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8F0F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573000" y="190500"/>
            <a:ext cx="5334000" cy="5334000"/>
          </a:xfrm>
          <a:prstGeom prst="ellipse">
            <a:avLst/>
          </a:prstGeom>
          <a:solidFill>
            <a:srgbClr val="E8F0F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001750" y="666750"/>
            <a:ext cx="3429000" cy="3429000"/>
          </a:xfrm>
          <a:prstGeom prst="ellipse">
            <a:avLst/>
          </a:prstGeom>
          <a:solidFill>
            <a:srgbClr val="1A73E8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5048250"/>
            <a:ext cx="952500" cy="47625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334500"/>
            <a:ext cx="18288000" cy="9525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05050"/>
            <a:ext cx="1337309" cy="25717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350" b="0">
                <a:solidFill>
                  <a:srgbClr val="1A73E8"/>
                </a:solidFill>
                <a:latin typeface="Inter"/>
              </a:rPr>
              <a:t>ONLINE RETAIL</a:t>
            </a:r>
            <a:endParaRPr sz="1350" b="0">
              <a:solidFill>
                <a:srgbClr val="1A73E8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2933700"/>
            <a:ext cx="2880360" cy="10287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Inter"/>
              </a:rPr>
              <a:t>英国在线零售商</a:t>
            </a:r>
            <a:endParaRPr sz="5400" b="1">
              <a:solidFill>
                <a:srgbClr val="0F172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3886200"/>
            <a:ext cx="7406639" cy="10287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Inter"/>
              </a:rPr>
              <a:t>2010 – 2011 年度经营分析</a:t>
            </a:r>
            <a:endParaRPr sz="5400" b="1">
              <a:solidFill>
                <a:srgbClr val="0F172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5581650"/>
            <a:ext cx="6720839" cy="3429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Inter"/>
              </a:rPr>
              <a:t>全年营收 £8.9M · 18,532 笔订单 · 37 个国家 · Q4 贡献 35% 全年营收</a:t>
            </a:r>
            <a:endParaRPr sz="180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9734550"/>
            <a:ext cx="512064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数据范围：2010.12.01 – 2011.12.09 | 清洗后 401,564 条交易 | 2026年7月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192500" y="973455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01 / 08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1714500"/>
            <a:ext cx="371475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48250" y="1714500"/>
            <a:ext cx="371475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53500" y="1714500"/>
            <a:ext cx="371475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58750" y="1714500"/>
            <a:ext cx="371475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3810000"/>
            <a:ext cx="16002000" cy="2095500"/>
          </a:xfrm>
          <a:prstGeom prst="roundRect">
            <a:avLst>
              <a:gd name="adj" fmla="val 6363"/>
            </a:avLst>
          </a:prstGeom>
          <a:solidFill>
            <a:srgbClr val="E8F0FE"/>
          </a:solidFill>
          <a:ln w="19050">
            <a:solidFill>
              <a:srgbClr val="1A73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6238875"/>
            <a:ext cx="5048250" cy="1666875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19875" y="6238875"/>
            <a:ext cx="5048250" cy="1666875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096750" y="6238875"/>
            <a:ext cx="5048250" cy="1666875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3000" y="8239125"/>
            <a:ext cx="16002000" cy="1095375"/>
          </a:xfrm>
          <a:prstGeom prst="roundRect">
            <a:avLst>
              <a:gd name="adj" fmla="val 8695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52450"/>
            <a:ext cx="5486400" cy="4572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Inter"/>
              </a:rPr>
              <a:t>全年营收 £8.9M —— UK 占了 82%，海外几乎空白</a:t>
            </a:r>
            <a:endParaRPr sz="2400" b="1">
              <a:solidFill>
                <a:srgbClr val="0F172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43000" y="1066800"/>
            <a:ext cx="952500" cy="25717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Inter"/>
              </a:rPr>
              <a:t>现状总览</a:t>
            </a:r>
            <a:endParaRPr sz="1350" b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28875" y="2047875"/>
            <a:ext cx="1143000" cy="5715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3000" b="1">
                <a:solidFill>
                  <a:srgbClr val="1A73E8"/>
                </a:solidFill>
                <a:latin typeface="Inter"/>
              </a:rPr>
              <a:t>£8.9M</a:t>
            </a:r>
            <a:endParaRPr sz="3000" b="1">
              <a:solidFill>
                <a:srgbClr val="1A73E8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24125" y="2847975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Inter"/>
              </a:rPr>
              <a:t>总营收</a:t>
            </a:r>
            <a:endParaRPr sz="120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19825" y="2047875"/>
            <a:ext cx="1371600" cy="5715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3000" b="1">
                <a:solidFill>
                  <a:srgbClr val="0D9488"/>
                </a:solidFill>
                <a:latin typeface="Inter"/>
              </a:rPr>
              <a:t>18,532</a:t>
            </a:r>
            <a:endParaRPr sz="3000" b="1">
              <a:solidFill>
                <a:srgbClr val="0D9488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29375" y="2847975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Inter"/>
              </a:rPr>
              <a:t>总订单数（排除取消）</a:t>
            </a:r>
            <a:endParaRPr sz="120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34625" y="2047875"/>
            <a:ext cx="952500" cy="5715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3000" b="1">
                <a:solidFill>
                  <a:srgbClr val="DC2626"/>
                </a:solidFill>
                <a:latin typeface="Inter"/>
              </a:rPr>
              <a:t>£480</a:t>
            </a:r>
            <a:endParaRPr sz="3000" b="1">
              <a:solidFill>
                <a:srgbClr val="DC2626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262235" y="2847975"/>
            <a:ext cx="109728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Inter"/>
              </a:rPr>
              <a:t>平均订单价值 (AOV)</a:t>
            </a:r>
            <a:endParaRPr sz="120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239875" y="2047875"/>
            <a:ext cx="952500" cy="5715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3000" b="1">
                <a:solidFill>
                  <a:srgbClr val="7C3AED"/>
                </a:solidFill>
                <a:latin typeface="Inter"/>
              </a:rPr>
              <a:t>37</a:t>
            </a:r>
            <a:endParaRPr sz="3000" b="1">
              <a:solidFill>
                <a:srgbClr val="7C3AED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239875" y="2847975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Inter"/>
              </a:rPr>
              <a:t>覆盖国家</a:t>
            </a:r>
            <a:endParaRPr sz="120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14500" y="4229100"/>
            <a:ext cx="1508759" cy="12573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6600" b="1">
                <a:solidFill>
                  <a:srgbClr val="1A73E8"/>
                </a:solidFill>
                <a:latin typeface="Inter"/>
              </a:rPr>
              <a:t>82%</a:t>
            </a:r>
            <a:endParaRPr sz="6600" b="1">
              <a:solidFill>
                <a:srgbClr val="1A73E8"/>
              </a:solidFill>
              <a:latin typeface="In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86500" y="4086225"/>
            <a:ext cx="2228850" cy="37147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950" b="0">
                <a:solidFill>
                  <a:srgbClr val="0F172A"/>
                </a:solidFill>
                <a:latin typeface="Inter"/>
              </a:rPr>
              <a:t>UK 营收占比，海外仅 18%</a:t>
            </a:r>
            <a:endParaRPr sz="195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86500" y="4648200"/>
            <a:ext cx="4080510" cy="242887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75" b="0">
                <a:solidFill>
                  <a:srgbClr val="475569"/>
                </a:solidFill>
                <a:latin typeface="Inter"/>
              </a:rPr>
              <a:t>单一市场依赖：德国(94客户/£229k)和法国(87客户/£210k)已有种子客户</a:t>
            </a:r>
            <a:endParaRPr sz="1275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86500" y="5029200"/>
            <a:ext cx="4663440" cy="242887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75" b="0">
                <a:solidFill>
                  <a:srgbClr val="475569"/>
                </a:solidFill>
                <a:latin typeface="Inter"/>
              </a:rPr>
              <a:t>客单价失衡：荷兰仅9人就贡献£285k(客单价£31,716)。拉一个荷兰客户=拉15个UK客户</a:t>
            </a:r>
            <a:endParaRPr sz="1275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524000" y="6467475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Inter"/>
              </a:rPr>
              <a:t>发现 1</a:t>
            </a:r>
            <a:endParaRPr sz="1200" b="1">
              <a:solidFill>
                <a:srgbClr val="1A73E8"/>
              </a:solidFill>
              <a:latin typeface="Inte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24000" y="6762750"/>
            <a:ext cx="4476750" cy="952500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0F172A"/>
                </a:solidFill>
                <a:latin typeface="Inter"/>
              </a:rPr>
              <a:t>单一市场依赖: UK 82%，而德国(94客户/£229k)和法国(87客户/£210k)已有种子客户——国际化不是从零开始。</a:t>
            </a:r>
            <a:endParaRPr sz="105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00875" y="6467475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Inter"/>
              </a:rPr>
              <a:t>发现 2</a:t>
            </a:r>
            <a:endParaRPr sz="1200" b="1">
              <a:solidFill>
                <a:srgbClr val="DC2626"/>
              </a:solidFill>
              <a:latin typeface="Inter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00875" y="6762750"/>
            <a:ext cx="4476750" cy="952500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0F172A"/>
                </a:solidFill>
                <a:latin typeface="Inter"/>
              </a:rPr>
              <a:t>客单价失衡: UK客户平均£2,049，但荷兰仅9人就贡献£285k(客单价£31,716)。拉一个荷兰客户=拉15个UK客户。</a:t>
            </a:r>
            <a:endParaRPr sz="105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2477750" y="6467475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Inter"/>
              </a:rPr>
              <a:t>发现 3</a:t>
            </a:r>
            <a:endParaRPr sz="1200" b="1">
              <a:solidFill>
                <a:srgbClr val="0D9488"/>
              </a:solidFill>
              <a:latin typeface="Inte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477750" y="6762750"/>
            <a:ext cx="4476750" cy="952500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0F172A"/>
                </a:solidFill>
                <a:latin typeface="Inter"/>
              </a:rPr>
              <a:t>退货率仅2.2%——商品质量和服务满意度高于行业平均。客户平均下单4.3次，复购习惯已建立。</a:t>
            </a:r>
            <a:endParaRPr sz="105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714500" y="8665845"/>
            <a:ext cx="952500" cy="242887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75" b="1">
                <a:solidFill>
                  <a:srgbClr val="1A73E8"/>
                </a:solidFill>
                <a:latin typeface="Inter"/>
              </a:rPr>
              <a:t>行动建议</a:t>
            </a:r>
            <a:endParaRPr sz="1275" b="1">
              <a:solidFill>
                <a:srgbClr val="1A73E8"/>
              </a:solidFill>
              <a:latin typeface="Inte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143250" y="8602980"/>
            <a:ext cx="13716000" cy="666750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60000"/>
              </a:lnSpc>
            </a:pPr>
            <a:r>
              <a:rPr sz="1125" b="0">
                <a:solidFill>
                  <a:srgbClr val="0F172A"/>
                </a:solidFill>
                <a:latin typeface="Inter"/>
              </a:rPr>
              <a:t>战略重心转移: UK维稳(保证18,532单基本盘)，资源向国际化倾斜。德国、法国、荷兰优先——客单价×客户数双重增长空间。</a:t>
            </a:r>
            <a:endParaRPr sz="1125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6192500" y="1003935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02 / 08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7667625"/>
            <a:ext cx="295275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3875" y="7667625"/>
            <a:ext cx="295275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24750" y="7667625"/>
            <a:ext cx="295275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15625" y="7667625"/>
            <a:ext cx="2952750" cy="5715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8524875"/>
            <a:ext cx="10287000" cy="809625"/>
          </a:xfrm>
          <a:prstGeom prst="roundRect">
            <a:avLst>
              <a:gd name="adj" fmla="val 11764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11000" y="8524875"/>
            <a:ext cx="5334000" cy="809625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280" y="1428750"/>
            <a:ext cx="14584680" cy="595312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1143000" y="476250"/>
            <a:ext cx="6858000" cy="4286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2250" b="1">
                <a:solidFill>
                  <a:srgbClr val="0F172A"/>
                </a:solidFill>
                <a:latin typeface="Inter"/>
              </a:rPr>
              <a:t>月度营收趋势 — Q4 贡献 35% 全年营收，11 月旺季是 2 月的 3 倍</a:t>
            </a:r>
            <a:endParaRPr sz="2250" b="1">
              <a:solidFill>
                <a:srgbClr val="0F172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99060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时间维度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02155" y="7858125"/>
            <a:ext cx="1234440" cy="25717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350" b="1">
                <a:solidFill>
                  <a:srgbClr val="DC2626"/>
                </a:solidFill>
                <a:latin typeface="Inter"/>
              </a:rPr>
              <a:t>11月峰值 £1.16M</a:t>
            </a:r>
            <a:endParaRPr sz="1350" b="1">
              <a:solidFill>
                <a:srgbClr val="DC2626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95900" y="7858125"/>
            <a:ext cx="1028699" cy="25717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350" b="1">
                <a:solidFill>
                  <a:srgbClr val="0F172A"/>
                </a:solidFill>
                <a:latin typeface="Inter"/>
              </a:rPr>
              <a:t>2月最低 £446K</a:t>
            </a:r>
            <a:endParaRPr sz="1350" b="1">
              <a:solidFill>
                <a:srgbClr val="0F172A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83905" y="7858125"/>
            <a:ext cx="1234440" cy="25717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350" b="1">
                <a:solidFill>
                  <a:srgbClr val="0D9488"/>
                </a:solidFill>
                <a:latin typeface="Inter"/>
              </a:rPr>
              <a:t>Q4 占全年 35.4%</a:t>
            </a:r>
            <a:endParaRPr sz="1350" b="1">
              <a:solidFill>
                <a:srgbClr val="0D9488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15750" y="7858125"/>
            <a:ext cx="952500" cy="25717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350" b="1">
                <a:solidFill>
                  <a:srgbClr val="94A3B8"/>
                </a:solidFill>
                <a:latin typeface="Inter"/>
              </a:rPr>
              <a:t>12月仅9天数据</a:t>
            </a:r>
            <a:endParaRPr sz="1350" b="1">
              <a:solidFill>
                <a:srgbClr val="94A3B8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19250" y="870585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00" b="1">
                <a:solidFill>
                  <a:srgbClr val="1A73E8"/>
                </a:solidFill>
                <a:latin typeface="Inter"/>
              </a:rPr>
              <a:t>关键解读</a:t>
            </a:r>
            <a:endParaRPr sz="1200" b="1">
              <a:solidFill>
                <a:srgbClr val="1A73E8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52750" y="8667750"/>
            <a:ext cx="8191500" cy="571500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0F172A"/>
                </a:solidFill>
                <a:latin typeface="Inter"/>
              </a:rPr>
              <a:t>Q4(9-11月)贡献35%全年营收。11月峰值£1,156k，2月最低£446k——旺季业绩决定了全年天花板。Q4容错率极低，旺季前的备货/营销/物流必须提前锁定。</a:t>
            </a:r>
            <a:endParaRPr sz="105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192000" y="870585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Inter"/>
              </a:rPr>
              <a:t>行动建议</a:t>
            </a:r>
            <a:endParaRPr sz="1200" b="1">
              <a:solidFill>
                <a:srgbClr val="0D9488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192000" y="9020175"/>
            <a:ext cx="4762500" cy="285750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b="0">
                <a:solidFill>
                  <a:srgbClr val="0F172A"/>
                </a:solidFill>
                <a:latin typeface="Inter"/>
              </a:rPr>
              <a:t>Q2-Q3为Q4蓄力: 7-8月完成旺季备货、9月启动预热营销、10-11月全力收割。</a:t>
            </a:r>
            <a:endParaRPr sz="975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192500" y="1003935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03 / 08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20500" y="1905000"/>
            <a:ext cx="5905500" cy="2762250"/>
          </a:xfrm>
          <a:prstGeom prst="roundRect">
            <a:avLst>
              <a:gd name="adj" fmla="val 4137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1500" y="6477000"/>
            <a:ext cx="8001000" cy="20955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48750" y="6477000"/>
            <a:ext cx="8667750" cy="2095500"/>
          </a:xfrm>
          <a:prstGeom prst="roundRect">
            <a:avLst>
              <a:gd name="adj" fmla="val 4545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714500"/>
            <a:ext cx="10477500" cy="4333875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1143000" y="476250"/>
            <a:ext cx="5657850" cy="4286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2250" b="1">
                <a:solidFill>
                  <a:srgbClr val="0F172A"/>
                </a:solidFill>
                <a:latin typeface="Inter"/>
              </a:rPr>
              <a:t>地理分布 — 82% 营收来自 UK，荷兰客单价是英国的 15 倍</a:t>
            </a:r>
            <a:endParaRPr sz="2250" b="1">
              <a:solidFill>
                <a:srgbClr val="0F172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99060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地理维度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096750" y="2190750"/>
            <a:ext cx="952500" cy="28575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Inter"/>
              </a:rPr>
              <a:t>关键解读</a:t>
            </a:r>
            <a:endParaRPr sz="1500" b="1">
              <a:solidFill>
                <a:srgbClr val="1A73E8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096750" y="2714625"/>
            <a:ext cx="952500" cy="214312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Inter"/>
              </a:rPr>
              <a:t>解读 1</a:t>
            </a:r>
            <a:endParaRPr sz="1125" b="1">
              <a:solidFill>
                <a:srgbClr val="0F172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096750" y="2939415"/>
            <a:ext cx="5143500" cy="714375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0F172A"/>
                </a:solidFill>
                <a:latin typeface="Inter"/>
              </a:rPr>
              <a:t>UK 营收£7.3M(82%)，荷兰仅9客户贡献£285k，客单价£31,716——是UK均值(£2,049)的15倍。荷兰存在高价B2B需求，每拉一个新客户都价值极高。</a:t>
            </a:r>
            <a:endParaRPr sz="105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96750" y="3714750"/>
            <a:ext cx="952500" cy="214312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125" b="1">
                <a:solidFill>
                  <a:srgbClr val="0F172A"/>
                </a:solidFill>
                <a:latin typeface="Inter"/>
              </a:rPr>
              <a:t>解读 2</a:t>
            </a:r>
            <a:endParaRPr sz="1125" b="1">
              <a:solidFill>
                <a:srgbClr val="0F172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096750" y="3968115"/>
            <a:ext cx="5143500" cy="523875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0F172A"/>
                </a:solidFill>
                <a:latin typeface="Inter"/>
              </a:rPr>
              <a:t>德国(94客户)和法国(87客户)已有种子用户基础，营收均超£200k。不是冷启动，是激活和放大。多语言站+本地支付可快速见效。</a:t>
            </a:r>
            <a:endParaRPr sz="105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6728460"/>
            <a:ext cx="952500" cy="28575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Inter"/>
              </a:rPr>
              <a:t>行动建议</a:t>
            </a:r>
            <a:endParaRPr sz="1500" b="1">
              <a:solidFill>
                <a:srgbClr val="0D9488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6997065"/>
            <a:ext cx="7048500" cy="1047750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70000"/>
              </a:lnSpc>
            </a:pPr>
            <a:r>
              <a:rPr sz="1050" b="0">
                <a:solidFill>
                  <a:srgbClr val="0F172A"/>
                </a:solidFill>
                <a:latin typeface="Inter"/>
              </a:rPr>
              <a:t>国际化三步走:</a:t>
            </a:r>
            <a:endParaRPr sz="1050" b="0">
              <a:solidFill>
                <a:srgbClr val="0F172A"/>
              </a:solidFill>
              <a:latin typeface="Inter"/>
            </a:endParaRP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0F172A"/>
                </a:solidFill>
                <a:latin typeface="Inter"/>
              </a:rPr>
              <a:t>(1) Q3上线德/法多语言站+本地支付</a:t>
            </a:r>
            <a:endParaRPr sz="1050" b="0">
              <a:solidFill>
                <a:srgbClr val="0F172A"/>
              </a:solidFill>
              <a:latin typeface="Inter"/>
            </a:endParaRP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0F172A"/>
                </a:solidFill>
                <a:latin typeface="Inter"/>
              </a:rPr>
              <a:t>(2) 针对荷兰B2B客户定向BD</a:t>
            </a:r>
            <a:endParaRPr sz="1050" b="0">
              <a:solidFill>
                <a:srgbClr val="0F172A"/>
              </a:solidFill>
              <a:latin typeface="Inter"/>
            </a:endParaRP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0F172A"/>
                </a:solidFill>
                <a:latin typeface="Inter"/>
              </a:rPr>
              <a:t>(3) Q4旺季前完成欧洲主要市场物流覆盖</a:t>
            </a:r>
            <a:endParaRPr sz="1050" b="0">
              <a:solidFill>
                <a:srgbClr val="0F172A"/>
              </a:solidFill>
              <a:latin typeface="Inter"/>
            </a:endParaRP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0F172A"/>
                </a:solidFill>
                <a:latin typeface="Inter"/>
              </a:rPr>
              <a:t>目标: 海外营收占比一年内从18%提升到15%。</a:t>
            </a:r>
            <a:endParaRPr sz="105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862435" y="7067550"/>
            <a:ext cx="3040380" cy="40005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2100" b="1">
                <a:solidFill>
                  <a:srgbClr val="1A73E8"/>
                </a:solidFill>
                <a:latin typeface="Inter"/>
              </a:rPr>
              <a:t>德国 94 客户 · 法国 87 客户</a:t>
            </a:r>
            <a:endParaRPr sz="2100" b="1">
              <a:solidFill>
                <a:srgbClr val="1A73E8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422505" y="7658100"/>
            <a:ext cx="192024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200" b="0">
                <a:solidFill>
                  <a:srgbClr val="475569"/>
                </a:solidFill>
                <a:latin typeface="Inter"/>
              </a:rPr>
              <a:t>已有种子用户基础，不是冷启动，是激活和放大</a:t>
            </a:r>
            <a:endParaRPr sz="120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902440" y="8058150"/>
            <a:ext cx="2960370" cy="2000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050" b="0">
                <a:solidFill>
                  <a:srgbClr val="94A3B8"/>
                </a:solidFill>
                <a:latin typeface="Inter"/>
              </a:rPr>
              <a:t>荷兰 9 客户 · 客单价 £31,716 · 是 UK 均值的 15 倍</a:t>
            </a:r>
            <a:endParaRPr sz="1050" b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192500" y="1003935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04 / 08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858500" y="1714500"/>
            <a:ext cx="628650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858500" y="3381375"/>
            <a:ext cx="6286500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58500" y="4714875"/>
            <a:ext cx="6286500" cy="1857375"/>
          </a:xfrm>
          <a:prstGeom prst="roundRect">
            <a:avLst>
              <a:gd name="adj" fmla="val 6153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858500" y="6858000"/>
            <a:ext cx="6286500" cy="17145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990" y="2416175"/>
            <a:ext cx="9144000" cy="4759960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1143000" y="476250"/>
            <a:ext cx="6000750" cy="4286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2250" b="1">
                <a:solidFill>
                  <a:srgbClr val="0F172A"/>
                </a:solidFill>
                <a:latin typeface="Inter"/>
              </a:rPr>
              <a:t>客户结构 — 6.3% 的鲸鱼客户贡献 54% 营收，他们走了天就塌了</a:t>
            </a:r>
            <a:endParaRPr sz="2250" b="1">
              <a:solidFill>
                <a:srgbClr val="0F172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99060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客户维度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453110" y="1828800"/>
            <a:ext cx="1097280" cy="6858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3600" b="1">
                <a:solidFill>
                  <a:srgbClr val="DC2626"/>
                </a:solidFill>
                <a:latin typeface="Inter"/>
              </a:rPr>
              <a:t>275人</a:t>
            </a:r>
            <a:endParaRPr sz="3600" b="1">
              <a:solidFill>
                <a:srgbClr val="DC2626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015912" y="2667000"/>
            <a:ext cx="1971675" cy="214312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125" b="0">
                <a:solidFill>
                  <a:srgbClr val="475569"/>
                </a:solidFill>
                <a:latin typeface="Inter"/>
              </a:rPr>
              <a:t>&gt; £5,000 客户数 · 54% 营收贡献</a:t>
            </a:r>
            <a:endParaRPr sz="1125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664440" y="3514725"/>
            <a:ext cx="2674619" cy="51435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2700" b="1">
                <a:solidFill>
                  <a:srgbClr val="1A73E8"/>
                </a:solidFill>
                <a:latin typeface="Inter"/>
              </a:rPr>
              <a:t>£2,049 / £669</a:t>
            </a:r>
            <a:endParaRPr sz="2700" b="1">
              <a:solidFill>
                <a:srgbClr val="1A73E8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961620" y="4105275"/>
            <a:ext cx="2080260" cy="2000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Inter"/>
              </a:rPr>
              <a:t>客单价 均值 / 中位数 · 均值是中位数的 3 倍</a:t>
            </a:r>
            <a:endParaRPr sz="105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0" y="4933950"/>
            <a:ext cx="952500" cy="242887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75" b="1">
                <a:solidFill>
                  <a:srgbClr val="1A73E8"/>
                </a:solidFill>
                <a:latin typeface="Inter"/>
              </a:rPr>
              <a:t>关键解读</a:t>
            </a:r>
            <a:endParaRPr sz="1275" b="1">
              <a:solidFill>
                <a:srgbClr val="1A73E8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0" y="5334000"/>
            <a:ext cx="5429250" cy="1143000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0F172A"/>
                </a:solidFill>
                <a:latin typeface="Inter"/>
              </a:rPr>
              <a:t>275人(6.3%)贡献53.9%营收——典型的鲸鱼效应。中腰部客户(£1,000-5,000, 1,393人)占比32.1%客户/33.7%营收，是第二大引擎。底部40.6%客户(&lt;£500)仅贡献5.1%。维护一个鲸鱼=维护几十个小客户，VIP服务ROI极高。</a:t>
            </a:r>
            <a:endParaRPr sz="105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30000" y="7077075"/>
            <a:ext cx="952500" cy="242887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75" b="1">
                <a:solidFill>
                  <a:srgbClr val="0D9488"/>
                </a:solidFill>
                <a:latin typeface="Inter"/>
              </a:rPr>
              <a:t>行动建议</a:t>
            </a:r>
            <a:endParaRPr sz="1275" b="1">
              <a:solidFill>
                <a:srgbClr val="0D9488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0" y="7524750"/>
            <a:ext cx="5429250" cy="904875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0F172A"/>
                </a:solidFill>
                <a:latin typeface="Inter"/>
              </a:rPr>
              <a:t>建VIP服务体系: Top 275客户专属客服+流失预警+季度回访。中腰部客户推升级激励(满£3,000解锁VIP权益)。目标: 中腰部→高价值转化率提升10%。</a:t>
            </a:r>
            <a:endParaRPr sz="105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192500" y="1003935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05 / 08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43000" y="1905000"/>
            <a:ext cx="5048250" cy="4000500"/>
          </a:xfrm>
          <a:prstGeom prst="roundRect">
            <a:avLst>
              <a:gd name="adj" fmla="val 38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1905000"/>
            <a:ext cx="5048250" cy="762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19250" y="5143500"/>
            <a:ext cx="4095750" cy="381000"/>
          </a:xfrm>
          <a:prstGeom prst="roundRect">
            <a:avLst>
              <a:gd name="adj" fmla="val 50000"/>
            </a:avLst>
          </a:prstGeom>
          <a:solidFill>
            <a:srgbClr val="0D9488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19875" y="1905000"/>
            <a:ext cx="5048250" cy="4000500"/>
          </a:xfrm>
          <a:prstGeom prst="roundRect">
            <a:avLst>
              <a:gd name="adj" fmla="val 38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19875" y="1905000"/>
            <a:ext cx="5048250" cy="76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96125" y="5143500"/>
            <a:ext cx="4095750" cy="381000"/>
          </a:xfrm>
          <a:prstGeom prst="roundRect">
            <a:avLst>
              <a:gd name="adj" fmla="val 50000"/>
            </a:avLst>
          </a:prstGeom>
          <a:solidFill>
            <a:srgbClr val="DC2626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096750" y="1905000"/>
            <a:ext cx="5048250" cy="4000500"/>
          </a:xfrm>
          <a:prstGeom prst="roundRect">
            <a:avLst>
              <a:gd name="adj" fmla="val 38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096750" y="1905000"/>
            <a:ext cx="5048250" cy="76200"/>
          </a:xfrm>
          <a:prstGeom prst="roundRect">
            <a:avLst>
              <a:gd name="adj" fmla="val 50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573000" y="5143500"/>
            <a:ext cx="4095750" cy="381000"/>
          </a:xfrm>
          <a:prstGeom prst="roundRect">
            <a:avLst>
              <a:gd name="adj" fmla="val 50000"/>
            </a:avLst>
          </a:prstGeom>
          <a:solidFill>
            <a:srgbClr val="CA8A04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43000" y="6381750"/>
            <a:ext cx="16002000" cy="1238250"/>
          </a:xfrm>
          <a:prstGeom prst="roundRect">
            <a:avLst>
              <a:gd name="adj" fmla="val 923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8048625"/>
            <a:ext cx="1600200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76250"/>
            <a:ext cx="5314950" cy="4286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2250" b="1">
                <a:solidFill>
                  <a:srgbClr val="0F172A"/>
                </a:solidFill>
                <a:latin typeface="Inter"/>
              </a:rPr>
              <a:t>增长只有三个杠杆 — 订单量、客单价、复购率，我们只用了一个半</a:t>
            </a:r>
            <a:endParaRPr sz="2250" b="1">
              <a:solidFill>
                <a:srgbClr val="0F172A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3000" y="99060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增长缺口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69845" y="2590800"/>
            <a:ext cx="2194560" cy="6858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3600" b="1">
                <a:solidFill>
                  <a:srgbClr val="0D9488"/>
                </a:solidFill>
                <a:latin typeface="Inter"/>
              </a:rPr>
              <a:t>18,532 单</a:t>
            </a:r>
            <a:endParaRPr sz="3600" b="1">
              <a:solidFill>
                <a:srgbClr val="0D9488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90875" y="3333750"/>
            <a:ext cx="952500" cy="28575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Inter"/>
              </a:rPr>
              <a:t>订单量杠杆</a:t>
            </a:r>
            <a:endParaRPr sz="150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27045" y="3867150"/>
            <a:ext cx="1280160" cy="2000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Inter"/>
              </a:rPr>
              <a:t>UK 20,122单——用到极致</a:t>
            </a:r>
            <a:endParaRPr sz="105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87065" y="4152900"/>
            <a:ext cx="960120" cy="2000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Inter"/>
              </a:rPr>
              <a:t>海外仅3.7%的客户——</a:t>
            </a:r>
            <a:endParaRPr sz="105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87065" y="4438650"/>
            <a:ext cx="960120" cy="2000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Inter"/>
              </a:rPr>
              <a:t>还有37个国家几乎没订单</a:t>
            </a:r>
            <a:endParaRPr sz="105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90875" y="5267325"/>
            <a:ext cx="952500" cy="2000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Inter"/>
              </a:rPr>
              <a:t>状态：用到极致（UK）</a:t>
            </a:r>
            <a:endParaRPr sz="1050" b="1">
              <a:solidFill>
                <a:srgbClr val="0D9488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95360" y="2590800"/>
            <a:ext cx="1097280" cy="6858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3600" b="1">
                <a:solidFill>
                  <a:srgbClr val="DC2626"/>
                </a:solidFill>
                <a:latin typeface="Inter"/>
              </a:rPr>
              <a:t>£480</a:t>
            </a:r>
            <a:endParaRPr sz="3600" b="1">
              <a:solidFill>
                <a:srgbClr val="DC2626"/>
              </a:solidFill>
              <a:latin typeface="In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67750" y="3333750"/>
            <a:ext cx="952500" cy="28575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Inter"/>
              </a:rPr>
              <a:t>客单价杠杆</a:t>
            </a:r>
            <a:endParaRPr sz="150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63940" y="3867150"/>
            <a:ext cx="960120" cy="2000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Inter"/>
              </a:rPr>
              <a:t>荷兰 £31,716——</a:t>
            </a:r>
            <a:endParaRPr sz="105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67750" y="4152900"/>
            <a:ext cx="952500" cy="2000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Inter"/>
              </a:rPr>
              <a:t>是UK均值的15倍</a:t>
            </a:r>
            <a:endParaRPr sz="105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03920" y="4438650"/>
            <a:ext cx="1280160" cy="2000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Inter"/>
              </a:rPr>
              <a:t>拉一个荷兰客户=拉15个UK客户</a:t>
            </a:r>
            <a:endParaRPr sz="105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67750" y="5267325"/>
            <a:ext cx="952500" cy="2000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050" b="1">
                <a:solidFill>
                  <a:srgbClr val="DC2626"/>
                </a:solidFill>
                <a:latin typeface="Inter"/>
              </a:rPr>
              <a:t>状态：几乎未启用</a:t>
            </a:r>
            <a:endParaRPr sz="1050" b="1">
              <a:solidFill>
                <a:srgbClr val="DC2626"/>
              </a:solidFill>
              <a:latin typeface="Inte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797915" y="2590800"/>
            <a:ext cx="1645919" cy="6858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3600" b="1">
                <a:solidFill>
                  <a:srgbClr val="CA8A04"/>
                </a:solidFill>
                <a:latin typeface="Inter"/>
              </a:rPr>
              <a:t>4.3次/人</a:t>
            </a:r>
            <a:endParaRPr sz="3600" b="1">
              <a:solidFill>
                <a:srgbClr val="CA8A04"/>
              </a:solidFill>
              <a:latin typeface="Inter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44625" y="3333750"/>
            <a:ext cx="952500" cy="28575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Inter"/>
              </a:rPr>
              <a:t>复购率杠杆</a:t>
            </a:r>
            <a:endParaRPr sz="150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4144625" y="3867150"/>
            <a:ext cx="952500" cy="2000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Inter"/>
              </a:rPr>
              <a:t>已有复购习惯——</a:t>
            </a:r>
            <a:endParaRPr sz="105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3940790" y="4152900"/>
            <a:ext cx="1360170" cy="2000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Inter"/>
              </a:rPr>
              <a:t>但25%记录缺CustomerID</a:t>
            </a:r>
            <a:endParaRPr sz="105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144625" y="4438650"/>
            <a:ext cx="952500" cy="2000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Inter"/>
              </a:rPr>
              <a:t>算不清真实复购</a:t>
            </a:r>
            <a:endParaRPr sz="105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144625" y="5267325"/>
            <a:ext cx="952500" cy="2000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050" b="1">
                <a:solidFill>
                  <a:srgbClr val="CA8A04"/>
                </a:solidFill>
                <a:latin typeface="Inter"/>
              </a:rPr>
              <a:t>状态：算不清</a:t>
            </a:r>
            <a:endParaRPr sz="1050" b="1">
              <a:solidFill>
                <a:srgbClr val="CA8A04"/>
              </a:solidFill>
              <a:latin typeface="Inter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714500" y="6831330"/>
            <a:ext cx="952500" cy="271462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425" b="1">
                <a:solidFill>
                  <a:srgbClr val="1A73E8"/>
                </a:solidFill>
                <a:latin typeface="Inter"/>
              </a:rPr>
              <a:t>核心判断</a:t>
            </a:r>
            <a:endParaRPr sz="1425" b="1">
              <a:solidFill>
                <a:srgbClr val="1A73E8"/>
              </a:solidFill>
              <a:latin typeface="Inter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048000" y="6781800"/>
            <a:ext cx="13716000" cy="762000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0F172A"/>
                </a:solidFill>
                <a:latin typeface="Inter"/>
              </a:rPr>
              <a:t>UK订单量已近天花板，继续投UK=边际ROI递减。真正的增长在客单价(国际化高净值客户)和复购率(CustomerID补齐后的精准运营)。</a:t>
            </a:r>
            <a:endParaRPr sz="120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714500" y="8423910"/>
            <a:ext cx="952500" cy="271462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425" b="1">
                <a:solidFill>
                  <a:srgbClr val="0D9488"/>
                </a:solidFill>
                <a:latin typeface="Inter"/>
              </a:rPr>
              <a:t>行动建议</a:t>
            </a:r>
            <a:endParaRPr sz="1425" b="1">
              <a:solidFill>
                <a:srgbClr val="0D9488"/>
              </a:solidFill>
              <a:latin typeface="Inter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48000" y="8334375"/>
            <a:ext cx="13716000" cy="666750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0F172A"/>
                </a:solidFill>
                <a:latin typeface="Inter"/>
              </a:rPr>
              <a:t>Q3同时启动: (1)德法荷定向获客(拉高客单价) (2)CustomerID数据治理(解锁复购计算和精准营销)。</a:t>
            </a:r>
            <a:endParaRPr sz="120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192500" y="1003935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06 / 08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143000" y="4095750"/>
            <a:ext cx="16002000" cy="0"/>
          </a:xfrm>
          <a:custGeom>
            <a:avLst/>
            <a:gdLst/>
            <a:ahLst/>
            <a:cxnLst/>
            <a:rect l="l" t="t" r="r" b="b"/>
            <a:pathLst>
              <a:path w="16002000">
                <a:moveTo>
                  <a:pt x="0" y="0"/>
                </a:moveTo>
                <a:moveTo>
                  <a:pt x="0" y="0"/>
                </a:moveTo>
                <a:lnTo>
                  <a:pt x="16002000" y="0"/>
                </a:lnTo>
              </a:path>
            </a:pathLst>
          </a:custGeom>
          <a:noFill/>
          <a:ln w="381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52800" y="3924300"/>
            <a:ext cx="342900" cy="342900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29000" y="4000500"/>
            <a:ext cx="190500" cy="190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24000" y="2286000"/>
            <a:ext cx="4000500" cy="142875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1550" y="3924300"/>
            <a:ext cx="342900" cy="3429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67750" y="4000500"/>
            <a:ext cx="190500" cy="190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2750" y="2286000"/>
            <a:ext cx="4000500" cy="142875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830300" y="3924300"/>
            <a:ext cx="342900" cy="3429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0" y="4000500"/>
            <a:ext cx="190500" cy="190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001500" y="2286000"/>
            <a:ext cx="4000500" cy="142875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5143500"/>
            <a:ext cx="16002000" cy="142875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3000" y="6953250"/>
            <a:ext cx="16002000" cy="123825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43000" y="8572500"/>
            <a:ext cx="16002000" cy="7620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6250"/>
            <a:ext cx="4286250" cy="42862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2250" b="1">
                <a:solidFill>
                  <a:srgbClr val="0F172A"/>
                </a:solidFill>
                <a:latin typeface="Inter"/>
              </a:rPr>
              <a:t>不在 Q3 动手 — 明年的汇报跟今年长得一模一样</a:t>
            </a:r>
            <a:endParaRPr sz="2250" b="1">
              <a:solidFill>
                <a:srgbClr val="0F172A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" y="99060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行动路线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84170" y="2552700"/>
            <a:ext cx="1280160" cy="4572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2400" b="1">
                <a:solidFill>
                  <a:srgbClr val="1A73E8"/>
                </a:solidFill>
                <a:latin typeface="Inter"/>
              </a:rPr>
              <a:t>7 – 8 月</a:t>
            </a:r>
            <a:endParaRPr sz="2400" b="1">
              <a:solidFill>
                <a:srgbClr val="1A73E8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48000" y="3171825"/>
            <a:ext cx="952500" cy="242887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275" b="0">
                <a:solidFill>
                  <a:srgbClr val="0F172A"/>
                </a:solidFill>
                <a:latin typeface="Inter"/>
              </a:rPr>
              <a:t>旺季备货入库</a:t>
            </a:r>
            <a:endParaRPr sz="1275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48000" y="3409950"/>
            <a:ext cx="952500" cy="242887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275" b="0">
                <a:solidFill>
                  <a:srgbClr val="0F172A"/>
                </a:solidFill>
                <a:latin typeface="Inter"/>
              </a:rPr>
              <a:t>德法站上线</a:t>
            </a:r>
            <a:endParaRPr sz="1275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86750" y="2552700"/>
            <a:ext cx="952500" cy="4572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2400" b="1">
                <a:solidFill>
                  <a:srgbClr val="0D9488"/>
                </a:solidFill>
                <a:latin typeface="Inter"/>
              </a:rPr>
              <a:t>9 月</a:t>
            </a:r>
            <a:endParaRPr sz="2400" b="1">
              <a:solidFill>
                <a:srgbClr val="0D9488"/>
              </a:solidFill>
              <a:latin typeface="Inte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86750" y="3171825"/>
            <a:ext cx="952500" cy="242887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275" b="0">
                <a:solidFill>
                  <a:srgbClr val="0F172A"/>
                </a:solidFill>
                <a:latin typeface="Inter"/>
              </a:rPr>
              <a:t>海外投放启动</a:t>
            </a:r>
            <a:endParaRPr sz="1275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86750" y="3409950"/>
            <a:ext cx="952500" cy="242887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275" b="0">
                <a:solidFill>
                  <a:srgbClr val="0F172A"/>
                </a:solidFill>
                <a:latin typeface="Inter"/>
              </a:rPr>
              <a:t>VIP体系搭建</a:t>
            </a:r>
            <a:endParaRPr sz="1275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178790" y="2552700"/>
            <a:ext cx="1645919" cy="4572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2400" b="1">
                <a:solidFill>
                  <a:srgbClr val="DC2626"/>
                </a:solidFill>
                <a:latin typeface="Inter"/>
              </a:rPr>
              <a:t>10 – 11 月</a:t>
            </a:r>
            <a:endParaRPr sz="2400" b="1">
              <a:solidFill>
                <a:srgbClr val="DC2626"/>
              </a:solidFill>
              <a:latin typeface="Inter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525500" y="3171825"/>
            <a:ext cx="952500" cy="242887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275" b="0">
                <a:solidFill>
                  <a:srgbClr val="0F172A"/>
                </a:solidFill>
                <a:latin typeface="Inter"/>
              </a:rPr>
              <a:t>旺季收割成交</a:t>
            </a:r>
            <a:endParaRPr sz="1275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3525500" y="3409950"/>
            <a:ext cx="952500" cy="242887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275" b="0">
                <a:solidFill>
                  <a:srgbClr val="0F172A"/>
                </a:solidFill>
                <a:latin typeface="Inter"/>
              </a:rPr>
              <a:t>Q4业绩冲刺</a:t>
            </a:r>
            <a:endParaRPr sz="1275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714500" y="5486400"/>
            <a:ext cx="952500" cy="271462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425" b="1">
                <a:solidFill>
                  <a:srgbClr val="1A73E8"/>
                </a:solidFill>
                <a:latin typeface="Inter"/>
              </a:rPr>
              <a:t>核心判断</a:t>
            </a:r>
            <a:endParaRPr sz="1425" b="1">
              <a:solidFill>
                <a:srgbClr val="1A73E8"/>
              </a:solidFill>
              <a:latin typeface="Inte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48000" y="5476875"/>
            <a:ext cx="13716000" cy="952500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0F172A"/>
                </a:solidFill>
                <a:latin typeface="Inter"/>
              </a:rPr>
              <a:t>Q4贡献35%营收——如果在旺季前不完成国际化准备，下一个旺季依然是UK单腿跳。7-8月是最后的窗口期。</a:t>
            </a:r>
            <a:endParaRPr sz="120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14500" y="7296150"/>
            <a:ext cx="952500" cy="271462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425" b="1">
                <a:solidFill>
                  <a:srgbClr val="0D9488"/>
                </a:solidFill>
                <a:latin typeface="Inter"/>
              </a:rPr>
              <a:t>行动建议</a:t>
            </a:r>
            <a:endParaRPr sz="1425" b="1">
              <a:solidFill>
                <a:srgbClr val="0D9488"/>
              </a:solidFill>
              <a:latin typeface="Inter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48000" y="7286625"/>
            <a:ext cx="13716000" cy="762000"/>
          </a:xfrm>
          <a:prstGeom prst="rect">
            <a:avLst/>
          </a:prstGeom>
          <a:noFill/>
          <a:effectLst/>
        </p:spPr>
        <p:txBody>
          <a:bodyPr wrap="square">
            <a:no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0F172A"/>
                </a:solidFill>
                <a:latin typeface="Inter"/>
              </a:rPr>
              <a:t>Q3行动清单: 德法多语言站上线→海外物流谈定→VIP专属服务SOP→CustomerID补齐方案→9月投放测试→10月旺季收割。</a:t>
            </a:r>
            <a:endParaRPr sz="1200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14500" y="8877300"/>
            <a:ext cx="952500" cy="25717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350" b="1">
                <a:solidFill>
                  <a:srgbClr val="DC2626"/>
                </a:solidFill>
                <a:latin typeface="Inter"/>
              </a:rPr>
              <a:t>一年后目标</a:t>
            </a:r>
            <a:endParaRPr sz="1350" b="1">
              <a:solidFill>
                <a:srgbClr val="DC2626"/>
              </a:solidFill>
              <a:latin typeface="Inte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38500" y="8886825"/>
            <a:ext cx="5829300" cy="242887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l"/>
            <a:r>
              <a:rPr sz="1275" b="0">
                <a:solidFill>
                  <a:srgbClr val="0F172A"/>
                </a:solidFill>
                <a:latin typeface="Inter"/>
              </a:rPr>
              <a:t>海外营收占比 18% → 25% · 德法客户翻倍 · CustomerID 补齐率 90%+ · Q4 旺季 £2M+</a:t>
            </a:r>
            <a:endParaRPr sz="1275" b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192500" y="1003935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Inter"/>
              </a:rPr>
              <a:t>07 / 08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8F0FE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15250" y="4953000"/>
            <a:ext cx="2857500" cy="381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1500" y="6667500"/>
            <a:ext cx="95250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667000"/>
            <a:ext cx="4114800" cy="11430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6000" b="1">
                <a:solidFill>
                  <a:srgbClr val="1A73E8"/>
                </a:solidFill>
                <a:latin typeface="Inter"/>
              </a:rPr>
              <a:t>Thank You</a:t>
            </a:r>
            <a:endParaRPr sz="6000" b="1">
              <a:solidFill>
                <a:srgbClr val="1A73E8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58100" y="4133850"/>
            <a:ext cx="2971800" cy="371475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950" b="0">
                <a:solidFill>
                  <a:srgbClr val="475569"/>
                </a:solidFill>
                <a:latin typeface="Inter"/>
              </a:rPr>
              <a:t>Online Retail 数据分析汇报</a:t>
            </a:r>
            <a:endParaRPr sz="1950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86750" y="5524500"/>
            <a:ext cx="1714500" cy="28575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500" b="0">
                <a:solidFill>
                  <a:srgbClr val="94A3B8"/>
                </a:solidFill>
                <a:latin typeface="Inter"/>
              </a:rPr>
              <a:t>数据驱动决策 · 洞察创造价值</a:t>
            </a:r>
            <a:endParaRPr sz="1500" b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32407" y="6934200"/>
            <a:ext cx="2623185" cy="242887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275" b="0">
                <a:solidFill>
                  <a:srgbClr val="475569"/>
                </a:solidFill>
                <a:latin typeface="Inter"/>
              </a:rPr>
              <a:t>三个增长杠杆，Q3 启动国际化 → Q4 旺季全面收割</a:t>
            </a:r>
            <a:endParaRPr sz="1275" b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20840" y="9372600"/>
            <a:ext cx="484632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Inter"/>
              </a:rPr>
              <a:t>2026年7月 · 数据来源：Online Retail.xlsx · 清洗后 401,564 条交易记录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67750" y="10039350"/>
            <a:ext cx="952500" cy="228600"/>
          </a:xfrm>
          <a:prstGeom prst="rect">
            <a:avLst/>
          </a:prstGeom>
          <a:noFill/>
          <a:effectLst/>
        </p:spPr>
        <p:txBody>
          <a:bodyPr wrap="none">
            <a:no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Inter"/>
              </a:rPr>
              <a:t>08 / 08</a:t>
            </a:r>
            <a:endParaRPr sz="1200" b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lideviber">
      <a:dk1>
        <a:srgbClr val="0F172A"/>
      </a:dk1>
      <a:lt1>
        <a:srgbClr val="FFFFFF"/>
      </a:lt1>
      <a:dk2>
        <a:srgbClr val="475569"/>
      </a:dk2>
      <a:lt2>
        <a:srgbClr val="F8FAFC"/>
      </a:lt2>
      <a:accent1>
        <a:srgbClr val="1A73E8"/>
      </a:accent1>
      <a:accent2>
        <a:srgbClr val="0369A1"/>
      </a:accent2>
      <a:accent3>
        <a:srgbClr val="0D9488"/>
      </a:accent3>
      <a:accent4>
        <a:srgbClr val="7C3AED"/>
      </a:accent4>
      <a:accent5>
        <a:srgbClr val="DC2626"/>
      </a:accent5>
      <a:accent6>
        <a:srgbClr val="CA8A04"/>
      </a:accent6>
      <a:hlink>
        <a:srgbClr val="0000FF"/>
      </a:hlink>
      <a:folHlink>
        <a:srgbClr val="800080"/>
      </a:folHlink>
    </a:clrScheme>
    <a:fontScheme name="slideviber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2286</Words>
  <Application>WPS 演示</Application>
  <PresentationFormat>On-screen Show (4:3)</PresentationFormat>
  <Paragraphs>230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Arial</vt:lpstr>
      <vt:lpstr>Inter</vt:lpstr>
      <vt:lpstr>FFont-Family</vt:lpstr>
      <vt:lpstr>微软雅黑</vt:lpstr>
      <vt:lpstr>Arial Unicode MS</vt:lpstr>
      <vt:lpstr>Calibri</vt:lpstr>
      <vt:lpstr>Inter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online-retail-report</dc:title>
  <dc:creator>slideviber</dc:creator>
  <dc:description>generated using python-pptx</dc:description>
  <cp:lastModifiedBy>马积川</cp:lastModifiedBy>
  <cp:revision>4</cp:revision>
  <dcterms:created xsi:type="dcterms:W3CDTF">2013-01-27T09:14:00Z</dcterms:created>
  <dcterms:modified xsi:type="dcterms:W3CDTF">2026-07-28T06:54:07Z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5C41DF9B69EE42038E3F47E360C38389_12</vt:lpwstr>
  </property>
  <property fmtid="{D5CDD505-2E9C-101B-9397-08002B2CF9AE}" pid="3" name="KSOProductBuildVer">
    <vt:lpwstr>2052-12.1.0.26895</vt:lpwstr>
  </property>
</Properties>
</file>